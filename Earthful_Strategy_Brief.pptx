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57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5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AACC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EARTHFUL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7315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Consumer Intelligence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Competitive Strategy Brief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CC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cleanest formulations in market.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359152"/>
            <a:ext cx="1097280" cy="36576"/>
          </a:xfrm>
          <a:prstGeom prst="rect">
            <a:avLst/>
          </a:prstGeom>
          <a:solidFill>
            <a:srgbClr val="AACCB8"/>
          </a:solidFill>
          <a:ln w="12700">
            <a:solidFill>
              <a:srgbClr val="AACC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871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CC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weakest proof of 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4.5★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CC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Women's 40+ Multi — 1,393 reviews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144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CC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Plant Protein reviews vs OZiva's 2,906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CC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Third-party certifications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A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Prepared by Shravan N V  ·  shravannv112@gmail.com  ·  July 2026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CORE TENSION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Premium price. Self-certified claims.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competitors with independent proof.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46120"/>
          </a:xfrm>
          <a:prstGeom prst="rect">
            <a:avLst/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EARTHFUL'S STRENGTHS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1984248"/>
            <a:ext cx="64008" cy="64008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100% plant-derived, zero synthetic additives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64008" cy="64008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Women's 40+ Multi: 4.5★ · 1,393 reviews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" y="2679192"/>
            <a:ext cx="64008" cy="64008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Natural taste praised across plant protein reviews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3026664"/>
            <a:ext cx="64008" cy="64008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62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Zero bloating — ajwain formula differentiated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" y="3374136"/>
            <a:ext cx="64008" cy="64008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Shark Tank + Fireside Ventures backing = brand trust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721608"/>
            <a:ext cx="64008" cy="64008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Calcium with K2 + Magnesium praised for absorption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17320"/>
            <a:ext cx="40233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72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✗  WHAT'S LIMITING GROWTH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1984248"/>
            <a:ext cx="64008" cy="640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NPOP, NSF, or USP certification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2331720"/>
            <a:ext cx="64008" cy="640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2267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Plant Protein: 144 reviews vs OZiva's 2,906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46320" y="2679192"/>
            <a:ext cx="64008" cy="640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615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Collagen + Melatonin under 100 reviews each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3026664"/>
            <a:ext cx="64008" cy="640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₹9–11/capsule vs ₹4–6 for Organic India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46320" y="3374136"/>
            <a:ext cx="64008" cy="640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Organic India has NPOP at 60% lower price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3721608"/>
            <a:ext cx="64008" cy="640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Premium justified only by brand trust (still building)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 PORTFOLIO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Seven products. One hero. Three with urgent social proof gaps.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06624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18688" y="1097280"/>
            <a:ext cx="969264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11556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42816" y="1097280"/>
            <a:ext cx="786384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1155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84064" y="1097280"/>
            <a:ext cx="969264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11556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08192" y="1097280"/>
            <a:ext cx="877824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1155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₹/Day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792224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1155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1426464"/>
            <a:ext cx="2706624" cy="374904"/>
          </a:xfrm>
          <a:prstGeom prst="rect">
            <a:avLst/>
          </a:prstGeom>
          <a:solidFill>
            <a:srgbClr val="EAF2EC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426464"/>
            <a:ext cx="969264" cy="374904"/>
          </a:xfrm>
          <a:prstGeom prst="rect">
            <a:avLst/>
          </a:prstGeom>
          <a:solidFill>
            <a:srgbClr val="EAF2EC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42816" y="1426464"/>
            <a:ext cx="786384" cy="374904"/>
          </a:xfrm>
          <a:prstGeom prst="rect">
            <a:avLst/>
          </a:prstGeom>
          <a:solidFill>
            <a:srgbClr val="EAF2EC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1426464"/>
            <a:ext cx="969264" cy="374904"/>
          </a:xfrm>
          <a:prstGeom prst="rect">
            <a:avLst/>
          </a:prstGeom>
          <a:solidFill>
            <a:srgbClr val="EAF2EC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1426464"/>
            <a:ext cx="877824" cy="374904"/>
          </a:xfrm>
          <a:prstGeom prst="rect">
            <a:avLst/>
          </a:prstGeom>
          <a:solidFill>
            <a:srgbClr val="EAF2EC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426464"/>
            <a:ext cx="1792224" cy="374904"/>
          </a:xfrm>
          <a:prstGeom prst="rect">
            <a:avLst/>
          </a:prstGeom>
          <a:solidFill>
            <a:srgbClr val="EAF2EC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149961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Women's Multi 40+/50+ 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91840" y="14996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₹634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15968" y="14996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4.5★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57216" y="14996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1,393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81344" y="14996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₹21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14032" y="149961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077456" y="150876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77456" y="15179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Hero Product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1828800"/>
            <a:ext cx="27066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1828800"/>
            <a:ext cx="96926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42816" y="1828800"/>
            <a:ext cx="78638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84064" y="1828800"/>
            <a:ext cx="96926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1828800"/>
            <a:ext cx="8778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1828800"/>
            <a:ext cx="17922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19019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Calcium Magnesium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91840" y="19019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₹544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315968" y="1901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4.4★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57216" y="19019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459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81344" y="19019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₹18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114032" y="19019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077456" y="1911096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77456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Healthy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7200" y="2231136"/>
            <a:ext cx="27066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18688" y="2231136"/>
            <a:ext cx="96926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42816" y="2231136"/>
            <a:ext cx="78638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84064" y="2231136"/>
            <a:ext cx="96926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08192" y="2231136"/>
            <a:ext cx="8778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0" y="2231136"/>
            <a:ext cx="17922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23042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Men's Multivitamin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291840" y="2304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₹634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315968" y="23042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4.4★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157216" y="2304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359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181344" y="23042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₹21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114032" y="23042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077456" y="2313432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77456" y="23225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Growing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57200" y="2633472"/>
            <a:ext cx="27066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18688" y="2633472"/>
            <a:ext cx="96926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42816" y="2633472"/>
            <a:ext cx="78638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84064" y="2633472"/>
            <a:ext cx="96926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08192" y="2633472"/>
            <a:ext cx="8778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40880" y="2633472"/>
            <a:ext cx="17922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27066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Women's Multivitamin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3291840" y="27066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₹634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315968" y="27066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4.5★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157216" y="27066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279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181344" y="2706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₹21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7114032" y="27066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077456" y="2715768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77456" y="27249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push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457200" y="3035808"/>
            <a:ext cx="27066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18688" y="3035808"/>
            <a:ext cx="96926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42816" y="3035808"/>
            <a:ext cx="78638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84064" y="3035808"/>
            <a:ext cx="96926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08192" y="3035808"/>
            <a:ext cx="8778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40880" y="3035808"/>
            <a:ext cx="17922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0352" y="31089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Plant Protein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3291840" y="310896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₹1,250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4315968" y="31089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4.3★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5157216" y="310896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181344" y="31089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₹104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7114032" y="31089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7077456" y="3118104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77456" y="3127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Urgent gap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57200" y="3438144"/>
            <a:ext cx="27066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18688" y="3438144"/>
            <a:ext cx="96926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42816" y="3438144"/>
            <a:ext cx="78638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084064" y="3438144"/>
            <a:ext cx="96926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08192" y="3438144"/>
            <a:ext cx="8778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40880" y="3438144"/>
            <a:ext cx="1792224" cy="374904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0352" y="35112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Plant Collagen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3291840" y="35112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₹680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4315968" y="35112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4.1★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5157216" y="35112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6181344" y="35112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₹23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7114032" y="351129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7077456" y="352044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077456" y="35295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Urgent gap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457200" y="3840480"/>
            <a:ext cx="27066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218688" y="3840480"/>
            <a:ext cx="96926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42816" y="3840480"/>
            <a:ext cx="78638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084064" y="3840480"/>
            <a:ext cx="96926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108192" y="3840480"/>
            <a:ext cx="8778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040880" y="3840480"/>
            <a:ext cx="179222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0352" y="39136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Melatonin Sleep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3291840" y="391363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₹583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4315968" y="3913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4.1★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5157216" y="391363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6181344" y="39136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₹19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7114032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7077456" y="3922776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077456" y="3931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Urgent gap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COMPETITIVE BENCHMARKING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clean-label claim. Different proof.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 PER CAPSULE (₹)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3385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Organic India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63040" y="1097280"/>
            <a:ext cx="1440180" cy="274320"/>
          </a:xfrm>
          <a:prstGeom prst="rect">
            <a:avLst/>
          </a:prstGeom>
          <a:solidFill>
            <a:srgbClr val="888880"/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8084" y="1133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₹4.5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Himalayan Organics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63040" y="1572768"/>
            <a:ext cx="1600200" cy="274320"/>
          </a:xfrm>
          <a:prstGeom prst="rect">
            <a:avLst/>
          </a:prstGeom>
          <a:solidFill>
            <a:srgbClr val="888880"/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18104" y="1609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Neuherbs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63040" y="2048256"/>
            <a:ext cx="2240280" cy="274320"/>
          </a:xfrm>
          <a:prstGeom prst="rect">
            <a:avLst/>
          </a:prstGeom>
          <a:solidFill>
            <a:srgbClr val="888880"/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20848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Kapiva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463040" y="2523744"/>
            <a:ext cx="320040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560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Earthful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63040" y="2999232"/>
            <a:ext cx="3360420" cy="274320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8324" y="3035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₹10.5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1051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CERTIFICATION COMPARISON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97880" y="1280160"/>
            <a:ext cx="658368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298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Organic Cert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1280160"/>
            <a:ext cx="658368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298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Quality Cert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269480" y="1280160"/>
            <a:ext cx="658368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298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Specialty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55280" y="1280160"/>
            <a:ext cx="658368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1298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Claim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37760" y="1554480"/>
            <a:ext cx="8961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162763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Organic India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897880" y="1554480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627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NPOP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83680" y="1554480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627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GMP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269480" y="1554480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1627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955280" y="1554480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1627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937760" y="1938528"/>
            <a:ext cx="8961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201168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Himalayan Organics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897880" y="1938528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20116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583680" y="1938528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20116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GMP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269480" y="1938528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20116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Gluten-free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955280" y="1938528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20116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937760" y="2322576"/>
            <a:ext cx="8961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239572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Kapiva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897880" y="2322576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583680" y="2322576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NABL tested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269480" y="2322576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9480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KSM-66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955280" y="2322576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5280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937760" y="2706624"/>
            <a:ext cx="896112" cy="347472"/>
          </a:xfrm>
          <a:prstGeom prst="rect">
            <a:avLst/>
          </a:prstGeom>
          <a:solidFill>
            <a:srgbClr val="EAF2EC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277977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Earthful ★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897880" y="2706624"/>
            <a:ext cx="658368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97880" y="2779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583680" y="2706624"/>
            <a:ext cx="658368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0" y="2779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269480" y="2706624"/>
            <a:ext cx="658368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9480" y="2779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Self-reported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955280" y="2706624"/>
            <a:ext cx="658368" cy="347472"/>
          </a:xfrm>
          <a:prstGeom prst="rect">
            <a:avLst/>
          </a:prstGeom>
          <a:solidFill>
            <a:srgbClr val="EAF2EC"/>
          </a:solidFill>
          <a:ln w="12700">
            <a:solidFill>
              <a:srgbClr val="DDDDD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55280" y="2779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57200" y="3273552"/>
            <a:ext cx="8229600" cy="15544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57200" y="3273552"/>
            <a:ext cx="54864" cy="1554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" y="3383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B4530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INSIGHT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40080" y="3621024"/>
            <a:ext cx="7863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Organic India offers a similar clean-label philosophy with NPOP certification at ₹4–5/capsule — 60–70% cheaper than Earthful. For a first-time buyer comparing both, Organic India's certification acts as a trust shortcut Earthful currently can't match. Getting NPOP certified is the single highest-leverage move to justify the premium.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VOICE OF CUSTOMER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buyers say — in their own words.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788920"/>
          </a:xfrm>
          <a:prstGeom prst="rect">
            <a:avLst/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243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CUSTOMERS LOVE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1655064"/>
            <a:ext cx="73152" cy="73152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72768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"Tastes like real mango, not artificial" — plant protein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2057400"/>
            <a:ext cx="73152" cy="73152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975104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Zero bloating — ajwain formula consistently praised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" y="2459736"/>
            <a:ext cx="73152" cy="73152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37744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Women's 40+ praised for hormonal health + energy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2862072"/>
            <a:ext cx="73152" cy="73152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779776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"Finally found a supplement without fillers"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" y="3264408"/>
            <a:ext cx="73152" cy="73152"/>
          </a:xfrm>
          <a:prstGeom prst="ellipse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182112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Calcium with K2+Magnesium lauded for absorption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023360" cy="2788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97280"/>
            <a:ext cx="40233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243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CUSTOMERS FLAG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1655064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572768"/>
            <a:ext cx="3566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 sensitivity across all product reviews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2057400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1975104"/>
            <a:ext cx="3566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Plant Protein — poor value at ₹104/serving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2459736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377440"/>
            <a:ext cx="3566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"Show third-party testing" mentioned by buyers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46320" y="286207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2779776"/>
            <a:ext cx="3566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Collagen + Melatonin: too few reviews to trust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3264408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182112"/>
            <a:ext cx="3566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Cosmix offers similar clean formula at lower price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8229600" cy="54864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59936"/>
            <a:ext cx="8229600" cy="804672"/>
          </a:xfrm>
          <a:prstGeom prst="rect">
            <a:avLst/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5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Competitor weakness to exploit: Across OZiva, Cosmix, and AS-IT-IS reviews — the most common complaints are grainy texture, poor mixability, and bloating. Earthful solves all three. That's the marketing message — not 'clean ingredients' (everyone claims it), but 'the protein that actually tastes good and doesn't upset your stomach.'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WHITE-SPACE OPPORTUNITIES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opportunities nobody else has claimed.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54864" cy="1170432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70432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Women's Hormonal Wellness Stack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1225296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3D6B4F">
              <a:alpha val="10000"/>
            </a:srgbClr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34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NPD — existing products, new bundle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153619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Women's 40+ Multi (1,393 reviews, 4.5★) has found genuine PMF with perimenopausal women. No competitor offers a dedicated clean-label stack for this demographic. Bundle: Women's 40+ Multi + Melatonin + Collagen at ₹1,699 (10% saving). Same buyer, 3× AOV, social proof lift for Collagen and Melatonin.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22576"/>
            <a:ext cx="54864" cy="1170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70432" y="2450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Protein Taste &amp; Digestion Narrative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B45309">
              <a:alpha val="1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4780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 marketing repositioning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70432" y="277977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Plant protein buyers' #1 complaint across all competitors: grainy, bloating, unnatural taste. Earthful has the answer — real Alphonso mango, ajwain digestion formula. Current messaging says 'clean ingredients.' It should say: 'Finally a protein that tastes real and doesn't upset your stomach.' The creative is in the reviews. Put it in the ads.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66160"/>
            <a:ext cx="54864" cy="117043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75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70432" y="36941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Quick Commerce Distribution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09360" y="3712464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21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Channel gap — 66% of online grocery is Q-commerce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70432" y="40233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Multivitamins and sleep supplements are repeat-purchase, compact, and impulse-friendly — perfect for Blinkit and Zepto. If Earthful isn't listed, health-conscious buyers reordering quickly will find Himalayan Organics or Organic India instead. Women's 40+ Multi and Calcium are the priority SKUs to list first.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Five moves — ranked by impact.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070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4128" y="1133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 NPOP or NSF certified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4128" y="1408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Independent certification closes the #1 objection at the premium price point. Organic India's NPOP acts as a trust shortcut Earthful currently can't match.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36208" y="1152144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3D6B4F">
              <a:alpha val="10000"/>
            </a:srgbClr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161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Highest Strategic 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36208" y="140817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888880">
              <a:alpha val="10000"/>
            </a:srgbClr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Medium Effort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19751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4128" y="19019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90-day review generation campaign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24128" y="21762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Plant Protein (144), Collagen (96), Melatonin (95) — too few reviews to convert at these price points. Email verified purchasers + insert card in packaging.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36208" y="1920240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3D6B4F">
              <a:alpha val="10000"/>
            </a:srgbClr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929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Immediate Revenue 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36208" y="2176272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888880">
              <a:alpha val="10000"/>
            </a:srgbClr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185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 Effort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2578608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2743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24128" y="2670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Launch Women's Hormonal Wellness Stack bundle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24128" y="29443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Women's 40+ Multi + Melatonin + Collagen at ₹1,699. All three products exist. Bundle creates AOV lift and social proof for Collagen and Melatonin.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36208" y="268833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3D6B4F">
              <a:alpha val="10000"/>
            </a:srgbClr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697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Revenue 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36208" y="2944368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888880">
              <a:alpha val="10000"/>
            </a:srgbClr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953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 Effort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34670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35112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24128" y="3438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Reframe Protein marketing — lead with taste + digestion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24128" y="37124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Competitors fail on texture and bloating. Earthful solves both. Change the ad from 'clean ingredients' to 'the protein that tastes real and doesn't hurt your stomach.'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36208" y="3456432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3D6B4F">
              <a:alpha val="10000"/>
            </a:srgbClr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465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Conversion 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36208" y="3712464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888880">
              <a:alpha val="10000"/>
            </a:srgbClr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721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 Effort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6928" y="427939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24128" y="4206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 and activate Q-commerce listings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24128" y="44805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66% of online grocery is Q-commerce. Women's 40+ Multi and Calcium are perfect impulse-reorder SKUs. List on Blinkit and Zepto immediately if not live.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36208" y="4224528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3D6B4F">
              <a:alpha val="10000"/>
            </a:srgbClr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4233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Distribution 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236208" y="4480560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888880">
              <a:alpha val="10000"/>
            </a:srgbClr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44897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 Effort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5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65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ACC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About Me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Shravan N V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408176"/>
            <a:ext cx="73152" cy="73152"/>
          </a:xfrm>
          <a:prstGeom prst="ellipse">
            <a:avLst/>
          </a:prstGeom>
          <a:solidFill>
            <a:srgbClr val="AACCB8"/>
          </a:solidFill>
          <a:ln w="12700">
            <a:solidFill>
              <a:srgbClr val="AAC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1673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E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PGDM in Agri-Business Management · ICAR-NAARM, Hyderabad (83.3%)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837944"/>
            <a:ext cx="73152" cy="73152"/>
          </a:xfrm>
          <a:prstGeom prst="ellipse">
            <a:avLst/>
          </a:prstGeom>
          <a:solidFill>
            <a:srgbClr val="AACCB8"/>
          </a:solidFill>
          <a:ln w="12700">
            <a:solidFill>
              <a:srgbClr val="AACC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4650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E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Branch Manager, Sarvagram Fincare — built MIS &amp; KPI dashboards from scratch · ₹90L+ portfolio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2267712"/>
            <a:ext cx="73152" cy="73152"/>
          </a:xfrm>
          <a:prstGeom prst="ellipse">
            <a:avLst/>
          </a:prstGeom>
          <a:solidFill>
            <a:srgbClr val="AACCB8"/>
          </a:solidFill>
          <a:ln w="12700">
            <a:solidFill>
              <a:srgbClr val="AACC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7627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E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 research for Government of India (RuTAG/ColdEasy) · zero existing data · zero-to-one GTM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3152" cy="73152"/>
          </a:xfrm>
          <a:prstGeom prst="ellipse">
            <a:avLst/>
          </a:prstGeom>
          <a:solidFill>
            <a:srgbClr val="AACCB8"/>
          </a:solidFill>
          <a:ln w="12700">
            <a:solidFill>
              <a:srgbClr val="AACC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0604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E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Consumer intelligence briefs for Zouk, Toyo Kombucha, Must Be Nuts, UpCykal · all unsolicited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73152" cy="73152"/>
          </a:xfrm>
          <a:prstGeom prst="ellipse">
            <a:avLst/>
          </a:prstGeom>
          <a:solidFill>
            <a:srgbClr val="AACCB8"/>
          </a:solidFill>
          <a:ln w="12700">
            <a:solidFill>
              <a:srgbClr val="AACC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358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E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Active daily user of Claude, ChatGPT, and Perplexity for research and analysis workflows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3557016"/>
            <a:ext cx="73152" cy="73152"/>
          </a:xfrm>
          <a:prstGeom prst="ellipse">
            <a:avLst/>
          </a:prstGeom>
          <a:solidFill>
            <a:srgbClr val="AACCB8"/>
          </a:solidFill>
          <a:ln w="12700">
            <a:solidFill>
              <a:srgbClr val="AACC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6557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E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Based in Bengaluru · available immediately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shravannv112@gmail.com  ·  +91 8197473044  ·  shravannaarm23-dev.github.io/github.io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1116</Words>
  <Application>Microsoft Office PowerPoint</Application>
  <PresentationFormat>On-screen Show (16:9)</PresentationFormat>
  <Paragraphs>192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Shravan N V</cp:lastModifiedBy>
  <cp:revision>2</cp:revision>
  <dcterms:created xsi:type="dcterms:W3CDTF">2026-07-13T00:24:56Z</dcterms:created>
  <dcterms:modified xsi:type="dcterms:W3CDTF">2026-07-13T00:32:14Z</dcterms:modified>
</cp:coreProperties>
</file>